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71" r:id="rId5"/>
    <p:sldId id="274" r:id="rId6"/>
    <p:sldId id="276" r:id="rId7"/>
    <p:sldId id="273" r:id="rId8"/>
    <p:sldId id="275" r:id="rId9"/>
    <p:sldId id="272" r:id="rId10"/>
    <p:sldId id="265" r:id="rId11"/>
    <p:sldId id="270" r:id="rId12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3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8687-0755-15E7-6E75-B7DD34D5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DF095-2A41-8A6D-FA96-BB1E82F8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E0BC7-AE62-94F0-4D9E-27308ECA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65A89-D71A-0B30-DA3A-4CFEB2FAA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8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CAEED-A24A-5A1F-0CC9-C9C787CA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1AB9D-20D6-DB2E-345E-C5684ABD4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8EBF8-55F1-5247-33BF-EC2240F99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6585-5C54-7C7B-C293-FE8F442F40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06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EF50-43DE-8383-543C-4342B1CF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1F518-2C5B-603F-0BAC-E019A745D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1B774-AE18-0D72-8279-65C4EA021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FE8C1-16D4-36FC-D654-73DDC0567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25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4A515-E487-2093-6E75-1B60987F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476DC-2B2B-66C1-4B68-0EB7534C4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94AAE-48A4-2230-6451-BE7F7252F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3E187-746F-7275-010D-B16DE11471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54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9951-25A5-46FB-00FB-09C4091E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C1D8D-3746-7D82-3FA9-B8BC7F8B7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8B0CD-937B-A1C9-BD28-B76FA363A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6EC56-5E95-95EB-64F8-522EFFE1E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57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8319-5CDC-502D-351F-BC5181A0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62E40-5E00-ECC7-B868-8DBC675C5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44E99-E4E4-A43F-FF46-CC91AEEAE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8CE6-2D10-C2C0-5AA9-217309F77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60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8B44-CDBF-614A-8F6D-392DDC73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8D557-A30F-5B6D-4E5E-6FA19C55E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D8530-9887-13CD-FC90-54FB14F04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8AAAA-6002-898E-5792-DA5C16EAF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09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4226" y="22558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ru-RU" sz="44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ПМ.02. Осуществление интеграции </a:t>
            </a:r>
          </a:p>
          <a:p>
            <a:pPr algn="ctr">
              <a:lnSpc>
                <a:spcPts val="5550"/>
              </a:lnSpc>
            </a:pPr>
            <a:r>
              <a:rPr lang="ru-RU" sz="44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программных модулей</a:t>
            </a:r>
            <a:endParaRPr lang="en-US" sz="4450" dirty="0"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773738"/>
            <a:ext cx="13042821" cy="1690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EF22-48A3-BF3B-9F9B-4FF913D5273D}"/>
              </a:ext>
            </a:extLst>
          </p:cNvPr>
          <p:cNvSpPr txBox="1"/>
          <p:nvPr/>
        </p:nvSpPr>
        <p:spPr>
          <a:xfrm>
            <a:off x="3941921" y="34364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CFBB7716-C69E-CE8F-A83F-96247B05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16" y="99715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03AC1DAC-A9D3-28AF-1562-5EC808D84599}"/>
              </a:ext>
            </a:extLst>
          </p:cNvPr>
          <p:cNvSpPr/>
          <p:nvPr/>
        </p:nvSpPr>
        <p:spPr>
          <a:xfrm>
            <a:off x="9041942" y="4455862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Путников Дмитрий Васильевич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 23П-2, специальность 09.02.07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 обучения: очная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Седов Алексей Сергеевич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C1AE8B-3CED-1BC4-8A4E-BD13479E1F75}"/>
              </a:ext>
            </a:extLst>
          </p:cNvPr>
          <p:cNvSpPr/>
          <p:nvPr/>
        </p:nvSpPr>
        <p:spPr>
          <a:xfrm>
            <a:off x="12879659" y="7704038"/>
            <a:ext cx="1750741" cy="4939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C6919E7-B659-E6EC-7866-BAE6648C902D}"/>
              </a:ext>
            </a:extLst>
          </p:cNvPr>
          <p:cNvSpPr/>
          <p:nvPr/>
        </p:nvSpPr>
        <p:spPr>
          <a:xfrm>
            <a:off x="5836801" y="7894649"/>
            <a:ext cx="57456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г.</a:t>
            </a: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Слободской</a:t>
            </a:r>
            <a:r>
              <a:rPr lang="ru-RU" sz="20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 2026г.</a:t>
            </a:r>
            <a:endParaRPr lang="en-US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9395-DEF2-7E73-E27A-E7F65D60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2">
            <a:extLst>
              <a:ext uri="{FF2B5EF4-FFF2-40B4-BE49-F238E27FC236}">
                <a16:creationId xmlns:a16="http://schemas.microsoft.com/office/drawing/2014/main" id="{1E3AB582-F5E6-79DA-F84E-8E9F783F167C}"/>
              </a:ext>
            </a:extLst>
          </p:cNvPr>
          <p:cNvSpPr/>
          <p:nvPr/>
        </p:nvSpPr>
        <p:spPr>
          <a:xfrm>
            <a:off x="662821" y="674966"/>
            <a:ext cx="631721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Цели и задачи практики</a:t>
            </a:r>
            <a:endParaRPr lang="en-US" sz="4150" dirty="0">
              <a:cs typeface="Times New Roman" panose="02020603050405020304" pitchFamily="18" charset="0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2318FCBB-D1C7-C729-7E32-DAB7FBF6C21D}"/>
              </a:ext>
            </a:extLst>
          </p:cNvPr>
          <p:cNvSpPr/>
          <p:nvPr/>
        </p:nvSpPr>
        <p:spPr>
          <a:xfrm>
            <a:off x="803612" y="1915072"/>
            <a:ext cx="13141881" cy="99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ru-RU" sz="2800" b="1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Цель практики:</a:t>
            </a:r>
          </a:p>
          <a:p>
            <a:pPr>
              <a:lnSpc>
                <a:spcPts val="2550"/>
              </a:lnSpc>
            </a:pPr>
            <a:r>
              <a:rPr lang="ru-RU" sz="2800" dirty="0">
                <a:solidFill>
                  <a:srgbClr val="161613"/>
                </a:solidFill>
                <a:ea typeface="Inter" pitchFamily="34" charset="-122"/>
                <a:cs typeface="Times New Roman" panose="02020603050405020304" pitchFamily="18" charset="0"/>
              </a:rPr>
              <a:t>Разработать информационную систему для учёта платных медицинских услуг в медицинском учреждении.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8174C31B-F5E3-CD8E-1B69-47DEC01EBC0A}"/>
              </a:ext>
            </a:extLst>
          </p:cNvPr>
          <p:cNvSpPr/>
          <p:nvPr/>
        </p:nvSpPr>
        <p:spPr>
          <a:xfrm>
            <a:off x="1192751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AA9B2007-07D8-0ED3-7F2A-EDB0FCE11527}"/>
              </a:ext>
            </a:extLst>
          </p:cNvPr>
          <p:cNvSpPr/>
          <p:nvPr/>
        </p:nvSpPr>
        <p:spPr>
          <a:xfrm>
            <a:off x="1215611" y="3488922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4F8186A6-24BF-5373-A3C4-EA84A20F6626}"/>
              </a:ext>
            </a:extLst>
          </p:cNvPr>
          <p:cNvSpPr/>
          <p:nvPr/>
        </p:nvSpPr>
        <p:spPr>
          <a:xfrm>
            <a:off x="3068633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1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EB2A624B-6247-A7CF-174A-E9060BBCEEDF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 useBgFill="1">
        <p:nvSpPr>
          <p:cNvPr id="73" name="Прямоугольник 72">
            <a:extLst>
              <a:ext uri="{FF2B5EF4-FFF2-40B4-BE49-F238E27FC236}">
                <a16:creationId xmlns:a16="http://schemas.microsoft.com/office/drawing/2014/main" id="{A6894351-1C6F-E7BC-2F4D-C6FCE580C871}"/>
              </a:ext>
            </a:extLst>
          </p:cNvPr>
          <p:cNvSpPr/>
          <p:nvPr/>
        </p:nvSpPr>
        <p:spPr>
          <a:xfrm>
            <a:off x="12850987" y="7717032"/>
            <a:ext cx="1750741" cy="5125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CAE3387-D42F-9DC4-D2EC-D13E01A8C3A1}"/>
              </a:ext>
            </a:extLst>
          </p:cNvPr>
          <p:cNvSpPr/>
          <p:nvPr/>
        </p:nvSpPr>
        <p:spPr>
          <a:xfrm>
            <a:off x="5263484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9E5C1D2-4C7A-8DE0-DDFE-E21C2599E461}"/>
              </a:ext>
            </a:extLst>
          </p:cNvPr>
          <p:cNvSpPr/>
          <p:nvPr/>
        </p:nvSpPr>
        <p:spPr>
          <a:xfrm>
            <a:off x="5286344" y="3488922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525DA68-9BCD-D456-F3B5-805A6DD150A5}"/>
              </a:ext>
            </a:extLst>
          </p:cNvPr>
          <p:cNvSpPr/>
          <p:nvPr/>
        </p:nvSpPr>
        <p:spPr>
          <a:xfrm>
            <a:off x="7139366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2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385C98E-513B-7AE9-8DB5-24EE5636EAD2}"/>
              </a:ext>
            </a:extLst>
          </p:cNvPr>
          <p:cNvSpPr/>
          <p:nvPr/>
        </p:nvSpPr>
        <p:spPr>
          <a:xfrm>
            <a:off x="9311356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F1D2A79-36FD-1FDA-166A-0577D89AF8CA}"/>
              </a:ext>
            </a:extLst>
          </p:cNvPr>
          <p:cNvSpPr/>
          <p:nvPr/>
        </p:nvSpPr>
        <p:spPr>
          <a:xfrm>
            <a:off x="9334216" y="3488922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1D33B76-AAF3-FD68-E0AE-8040F68A3311}"/>
              </a:ext>
            </a:extLst>
          </p:cNvPr>
          <p:cNvSpPr/>
          <p:nvPr/>
        </p:nvSpPr>
        <p:spPr>
          <a:xfrm>
            <a:off x="11187238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3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6646CBB-9CDF-E410-A554-8F4CD33ACAAF}"/>
              </a:ext>
            </a:extLst>
          </p:cNvPr>
          <p:cNvSpPr/>
          <p:nvPr/>
        </p:nvSpPr>
        <p:spPr>
          <a:xfrm>
            <a:off x="1192751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4392D28-B31B-9173-C503-81744AFCE2F6}"/>
              </a:ext>
            </a:extLst>
          </p:cNvPr>
          <p:cNvSpPr/>
          <p:nvPr/>
        </p:nvSpPr>
        <p:spPr>
          <a:xfrm>
            <a:off x="1215611" y="5266526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E8E63B6-9D58-92E7-3B5A-D745B3E1E150}"/>
              </a:ext>
            </a:extLst>
          </p:cNvPr>
          <p:cNvSpPr/>
          <p:nvPr/>
        </p:nvSpPr>
        <p:spPr>
          <a:xfrm>
            <a:off x="3068633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4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9F05DB34-7972-EA5A-B7C6-0DA207AF14A3}"/>
              </a:ext>
            </a:extLst>
          </p:cNvPr>
          <p:cNvSpPr/>
          <p:nvPr/>
        </p:nvSpPr>
        <p:spPr>
          <a:xfrm>
            <a:off x="5240623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B115FEC-DA01-F809-BE52-B93D6939A581}"/>
              </a:ext>
            </a:extLst>
          </p:cNvPr>
          <p:cNvSpPr/>
          <p:nvPr/>
        </p:nvSpPr>
        <p:spPr>
          <a:xfrm>
            <a:off x="5263483" y="5266526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683EC99-B2B8-6585-FFD1-DAC467074943}"/>
              </a:ext>
            </a:extLst>
          </p:cNvPr>
          <p:cNvSpPr/>
          <p:nvPr/>
        </p:nvSpPr>
        <p:spPr>
          <a:xfrm>
            <a:off x="7116505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5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1ABB4387-85EE-FF7A-93E1-FBBE97676025}"/>
              </a:ext>
            </a:extLst>
          </p:cNvPr>
          <p:cNvSpPr/>
          <p:nvPr/>
        </p:nvSpPr>
        <p:spPr>
          <a:xfrm>
            <a:off x="9311357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4778C894-79B8-A50C-509C-87E4F694FB8A}"/>
              </a:ext>
            </a:extLst>
          </p:cNvPr>
          <p:cNvSpPr/>
          <p:nvPr/>
        </p:nvSpPr>
        <p:spPr>
          <a:xfrm>
            <a:off x="9334217" y="5266526"/>
            <a:ext cx="4025013" cy="637937"/>
          </a:xfrm>
          <a:prstGeom prst="roundRect">
            <a:avLst>
              <a:gd name="adj" fmla="val 70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5AEE34A4-E196-2375-FF45-D307E0785F8A}"/>
              </a:ext>
            </a:extLst>
          </p:cNvPr>
          <p:cNvSpPr/>
          <p:nvPr/>
        </p:nvSpPr>
        <p:spPr>
          <a:xfrm>
            <a:off x="11187239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6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D68C50-C35D-8144-5F29-94D86C85EB40}"/>
              </a:ext>
            </a:extLst>
          </p:cNvPr>
          <p:cNvSpPr txBox="1"/>
          <p:nvPr/>
        </p:nvSpPr>
        <p:spPr>
          <a:xfrm>
            <a:off x="1252103" y="4219994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Провести анализ предметной области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EF3C8C-0D7A-E4E7-7A67-CC1ADE049543}"/>
              </a:ext>
            </a:extLst>
          </p:cNvPr>
          <p:cNvSpPr txBox="1"/>
          <p:nvPr/>
        </p:nvSpPr>
        <p:spPr>
          <a:xfrm>
            <a:off x="5299976" y="4219994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Спроектировать </a:t>
            </a:r>
            <a:r>
              <a:rPr lang="en-US" sz="2400" dirty="0"/>
              <a:t>UML </a:t>
            </a:r>
            <a:r>
              <a:rPr lang="ru-RU" sz="2400" dirty="0"/>
              <a:t>и </a:t>
            </a:r>
            <a:r>
              <a:rPr lang="en-US" sz="2400" dirty="0"/>
              <a:t>ERD</a:t>
            </a:r>
            <a:endParaRPr lang="ru-RU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9BFC94-2F18-2626-66F6-9C6C6578757A}"/>
              </a:ext>
            </a:extLst>
          </p:cNvPr>
          <p:cNvSpPr txBox="1"/>
          <p:nvPr/>
        </p:nvSpPr>
        <p:spPr>
          <a:xfrm>
            <a:off x="1219498" y="5943541"/>
            <a:ext cx="3988521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Разработать приложение на C# WPF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C30A1-92D8-E30F-EC10-32E8DEAD699A}"/>
              </a:ext>
            </a:extLst>
          </p:cNvPr>
          <p:cNvSpPr txBox="1"/>
          <p:nvPr/>
        </p:nvSpPr>
        <p:spPr>
          <a:xfrm>
            <a:off x="5299976" y="5980665"/>
            <a:ext cx="3644519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Реализовать интеграцию с API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A3850F-7F5D-6B8D-8368-C2234EEE60FF}"/>
              </a:ext>
            </a:extLst>
          </p:cNvPr>
          <p:cNvSpPr txBox="1"/>
          <p:nvPr/>
        </p:nvSpPr>
        <p:spPr>
          <a:xfrm>
            <a:off x="9334216" y="4234066"/>
            <a:ext cx="4200310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Создать БД в MS SQL Server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5D7DA1-5007-C251-09E2-6C3EE7B61EC6}"/>
              </a:ext>
            </a:extLst>
          </p:cNvPr>
          <p:cNvSpPr txBox="1"/>
          <p:nvPr/>
        </p:nvSpPr>
        <p:spPr>
          <a:xfrm>
            <a:off x="9347848" y="6011670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Реализовать </a:t>
            </a:r>
            <a:r>
              <a:rPr lang="en-US" sz="2400" dirty="0"/>
              <a:t>CRUD-</a:t>
            </a:r>
            <a:r>
              <a:rPr lang="ru-RU" sz="2400" dirty="0"/>
              <a:t>операции</a:t>
            </a:r>
          </a:p>
        </p:txBody>
      </p:sp>
    </p:spTree>
    <p:extLst>
      <p:ext uri="{BB962C8B-B14F-4D97-AF65-F5344CB8AC3E}">
        <p14:creationId xmlns:p14="http://schemas.microsoft.com/office/powerpoint/2010/main" val="24835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FEC2C6D4-FD92-3DAF-1D37-5EEE4E8C3080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Анализ предметной области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BEA2EEA-92CC-C840-E7B5-7857A0C262E4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9C7DC9B3-8D33-1D10-F1A8-CAD0E020E33F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010AF-8172-9FB9-90E1-2C6412855CD3}"/>
              </a:ext>
            </a:extLst>
          </p:cNvPr>
          <p:cNvSpPr txBox="1"/>
          <p:nvPr/>
        </p:nvSpPr>
        <p:spPr>
          <a:xfrm>
            <a:off x="761047" y="1394895"/>
            <a:ext cx="73152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Предметная область</a:t>
            </a:r>
            <a:r>
              <a:rPr lang="ru-RU" sz="2800" dirty="0"/>
              <a:t>: учёт платных медицинских услуг в ГБУЗ НО «Тоншаевская ЦРБ»</a:t>
            </a:r>
          </a:p>
          <a:p>
            <a:r>
              <a:rPr lang="ru-RU" sz="2800" b="1" dirty="0"/>
              <a:t>Основные бизнес-процессы</a:t>
            </a:r>
            <a:r>
              <a:rPr lang="ru-RU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Запись пациента на услугу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Оказание услуги врачом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Фиксация оплаты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Формирование отчётов</a:t>
            </a:r>
          </a:p>
          <a:p>
            <a:r>
              <a:rPr lang="ru-RU" sz="2800" b="1" dirty="0"/>
              <a:t>Сущности</a:t>
            </a:r>
            <a:r>
              <a:rPr lang="ru-RU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Пациент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Врач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Администратор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Услуга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Отделение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Заказ-наряд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51C337-8EAB-BAEC-D91D-94CAC9E47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809" y="0"/>
            <a:ext cx="553705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B7FDD-B3DD-F460-EE15-2FEA8165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6382DBF4-6E11-219A-8913-3BBEA8B7270E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en-US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ER-</a:t>
            </a: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диаграмма базы данных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2CF8831-49B5-35B1-54C5-085B2C00BA88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E033E37E-32D6-569E-4E4D-E409962F9D3E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94EF5-E12B-7EA5-A40F-B5DCE0FB41E8}"/>
              </a:ext>
            </a:extLst>
          </p:cNvPr>
          <p:cNvSpPr txBox="1"/>
          <p:nvPr/>
        </p:nvSpPr>
        <p:spPr>
          <a:xfrm>
            <a:off x="557847" y="1394895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СУБД</a:t>
            </a:r>
            <a:r>
              <a:rPr lang="ru-RU" sz="2800" dirty="0"/>
              <a:t>: Microsoft SQL Server</a:t>
            </a:r>
          </a:p>
          <a:p>
            <a:r>
              <a:rPr lang="ru-RU" sz="2800" b="1" dirty="0"/>
              <a:t>6 таблиц: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Отделения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Врачи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Пациенты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Услуги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/>
              <a:t>ЗаказНаряды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Пользователи</a:t>
            </a:r>
          </a:p>
          <a:p>
            <a:r>
              <a:rPr lang="ru-RU" sz="2800" b="1" dirty="0"/>
              <a:t>Связи</a:t>
            </a:r>
            <a:r>
              <a:rPr lang="ru-RU" sz="2800" dirty="0"/>
              <a:t>: 1 : M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45A428-D10B-90AA-9D55-6780B9E1B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390" y="1394895"/>
            <a:ext cx="8682429" cy="670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DD88-20D1-46CB-94AD-E1DD8C45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EA5761F7-E652-9FAA-2BC2-F04A85B5C2E2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Приложение (</a:t>
            </a:r>
            <a:r>
              <a:rPr lang="en-US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WPF)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2D5258A-E460-1C2A-A446-FC0CD594E89F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64A72BA8-8F2A-8C69-FDD8-7ACE6CCA693F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AE76E-7189-0234-525F-B4CB3F73601C}"/>
              </a:ext>
            </a:extLst>
          </p:cNvPr>
          <p:cNvSpPr txBox="1"/>
          <p:nvPr/>
        </p:nvSpPr>
        <p:spPr>
          <a:xfrm>
            <a:off x="761047" y="1394895"/>
            <a:ext cx="690975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Реализовано</a:t>
            </a:r>
            <a:r>
              <a:rPr lang="ru-RU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Окно авторизации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Главное окно администратора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CRUD-операции (добавление, просмотр, редактирование, удаление)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Поиск и фильтрация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Окна для врача и пациента</a:t>
            </a:r>
          </a:p>
          <a:p>
            <a:r>
              <a:rPr lang="ru-RU" sz="2800" b="1" dirty="0"/>
              <a:t>Технологии</a:t>
            </a:r>
            <a:r>
              <a:rPr lang="ru-RU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C# (.NET 8.0)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WPF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MS SQL Server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64833B-F76C-A9E1-0274-82B5D9067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550" y="1317942"/>
            <a:ext cx="5801106" cy="623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0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C40B-388F-7F8B-06E1-2FE5218B5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8738E651-733D-0AA9-BF20-3F6DF5428ABE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Окна приложения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CA8DE68-FF0C-4F3E-064C-22FB1BB1E537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FF953DCC-BEF7-0135-E9BA-84D195B45787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333A2-F024-E976-FCAA-063ABB96CF08}"/>
              </a:ext>
            </a:extLst>
          </p:cNvPr>
          <p:cNvSpPr txBox="1"/>
          <p:nvPr/>
        </p:nvSpPr>
        <p:spPr>
          <a:xfrm>
            <a:off x="761047" y="1279756"/>
            <a:ext cx="45052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Окно администратора: </a:t>
            </a:r>
            <a:r>
              <a:rPr lang="ru-RU" sz="2800" dirty="0"/>
              <a:t>управление пациентами, врачами, услугами, заказ-нарядами</a:t>
            </a:r>
          </a:p>
          <a:p>
            <a:r>
              <a:rPr lang="ru-RU" sz="2800" b="1" dirty="0"/>
              <a:t>Окно врача: </a:t>
            </a:r>
            <a:r>
              <a:rPr lang="ru-RU" sz="2800" dirty="0"/>
              <a:t>просмотр приёмов, оказание услуги, статистика</a:t>
            </a:r>
          </a:p>
          <a:p>
            <a:r>
              <a:rPr lang="ru-RU" sz="2800" b="1" dirty="0"/>
              <a:t>Окно пациента: </a:t>
            </a:r>
            <a:r>
              <a:rPr lang="ru-RU" sz="2800" dirty="0"/>
              <a:t>просмотр услуг, запись на приём, статистика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57069C-C0AD-32F8-6931-BDBC71ABD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989" y="1279756"/>
            <a:ext cx="9337588" cy="60660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49B636-016F-BFC5-F2D8-8069073174FC}"/>
              </a:ext>
            </a:extLst>
          </p:cNvPr>
          <p:cNvSpPr txBox="1"/>
          <p:nvPr/>
        </p:nvSpPr>
        <p:spPr>
          <a:xfrm>
            <a:off x="7539316" y="7440617"/>
            <a:ext cx="408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Рисунок 1 – Окно Администратора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F31CED3-7010-82FF-72C2-4B9EBD505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989" y="1279756"/>
            <a:ext cx="9337588" cy="60755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AE04FE-472E-91E9-2779-86A7DD33E4A2}"/>
              </a:ext>
            </a:extLst>
          </p:cNvPr>
          <p:cNvSpPr txBox="1"/>
          <p:nvPr/>
        </p:nvSpPr>
        <p:spPr>
          <a:xfrm>
            <a:off x="7539315" y="7440617"/>
            <a:ext cx="408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Рисунок 2 – Окно Врача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2C13D7C-5666-DB97-CDEE-1D89AFEF2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989" y="1304393"/>
            <a:ext cx="9337588" cy="60508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744AFF-1D41-20B4-13A6-197E7DEFB0DD}"/>
              </a:ext>
            </a:extLst>
          </p:cNvPr>
          <p:cNvSpPr txBox="1"/>
          <p:nvPr/>
        </p:nvSpPr>
        <p:spPr>
          <a:xfrm>
            <a:off x="7539314" y="7440617"/>
            <a:ext cx="408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Рисунок 3 – Окно Пациента</a:t>
            </a:r>
          </a:p>
        </p:txBody>
      </p:sp>
    </p:spTree>
    <p:extLst>
      <p:ext uri="{BB962C8B-B14F-4D97-AF65-F5344CB8AC3E}">
        <p14:creationId xmlns:p14="http://schemas.microsoft.com/office/powerpoint/2010/main" val="159917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0" grpId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E7FF-E660-D824-4354-D6D5EED1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69B112D7-5721-D876-A7A6-D4824F86DACF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Интеграция с </a:t>
            </a:r>
            <a:r>
              <a:rPr lang="en-US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API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382012-A527-0E85-ACDB-50A2AC58C9B7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5BF95B8A-CFD2-E4DB-A514-FE65A9FDE365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47456-013C-A388-C472-A7F329B05D25}"/>
              </a:ext>
            </a:extLst>
          </p:cNvPr>
          <p:cNvSpPr txBox="1"/>
          <p:nvPr/>
        </p:nvSpPr>
        <p:spPr>
          <a:xfrm>
            <a:off x="761047" y="1394895"/>
            <a:ext cx="62382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API</a:t>
            </a:r>
            <a:r>
              <a:rPr lang="en-US" sz="2800" dirty="0"/>
              <a:t>: </a:t>
            </a:r>
            <a:r>
              <a:rPr lang="ru-RU" sz="2800" dirty="0"/>
              <a:t>МКБ-10 (клинические таблицы </a:t>
            </a:r>
            <a:r>
              <a:rPr lang="en-US" sz="2800" dirty="0"/>
              <a:t>NIH)</a:t>
            </a:r>
          </a:p>
          <a:p>
            <a:r>
              <a:rPr lang="ru-RU" sz="2800" b="1" dirty="0"/>
              <a:t>Функционал</a:t>
            </a:r>
            <a:r>
              <a:rPr lang="ru-RU" sz="2800" dirty="0"/>
              <a:t>: проверка кодов диагнозов</a:t>
            </a:r>
          </a:p>
          <a:p>
            <a:r>
              <a:rPr lang="ru-RU" sz="2800" b="1" dirty="0"/>
              <a:t>Пример</a:t>
            </a:r>
            <a:r>
              <a:rPr lang="ru-RU" sz="2800" dirty="0"/>
              <a:t>: код </a:t>
            </a:r>
            <a:r>
              <a:rPr lang="en-US" sz="2800" dirty="0"/>
              <a:t>E11.9 → Type 2 diabetes mellitus without complications</a:t>
            </a:r>
            <a:endParaRPr lang="ru-RU" sz="28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0BBD487-610C-1615-0C87-DED487111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869" y="1299963"/>
            <a:ext cx="7409521" cy="562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7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F81A-3583-76A1-8DF5-081F4264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79F2482A-C811-AECE-C0C3-7D87375E1B1F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Тестирование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095EAC4-665B-99D6-9AEB-DCDB841FFA4B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215ADFBF-A7AC-B59F-A8B0-0BA8104B7BC8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13E4A-C12E-AB76-7DD6-0AC606B905B9}"/>
              </a:ext>
            </a:extLst>
          </p:cNvPr>
          <p:cNvSpPr txBox="1"/>
          <p:nvPr/>
        </p:nvSpPr>
        <p:spPr>
          <a:xfrm>
            <a:off x="295534" y="1423337"/>
            <a:ext cx="42432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Модульное тестирование</a:t>
            </a:r>
            <a:r>
              <a:rPr lang="ru-RU" sz="2800" dirty="0"/>
              <a:t>: </a:t>
            </a:r>
            <a:r>
              <a:rPr lang="ru-RU" sz="2800" dirty="0" err="1"/>
              <a:t>MSTest</a:t>
            </a:r>
            <a:r>
              <a:rPr lang="ru-RU" sz="2800" dirty="0"/>
              <a:t> (7 тестов)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Проверка валидации ФИО, полиса, цены</a:t>
            </a:r>
          </a:p>
          <a:p>
            <a:r>
              <a:rPr lang="ru-RU" sz="2800" b="1" dirty="0"/>
              <a:t>Интеграционное тестирование</a:t>
            </a:r>
            <a:r>
              <a:rPr lang="ru-RU" sz="2800" dirty="0"/>
              <a:t>: API МКБ-10 (4 теста)</a:t>
            </a:r>
          </a:p>
          <a:p>
            <a:r>
              <a:rPr lang="ru-RU" sz="2800" b="1" dirty="0"/>
              <a:t>Результат</a:t>
            </a:r>
            <a:r>
              <a:rPr lang="ru-RU" sz="2800" dirty="0"/>
              <a:t>: все тесты пройдены успешно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B284DA-5A67-9505-7205-B112F834E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749" y="1394895"/>
            <a:ext cx="10048614" cy="517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2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BADD-5A41-E6EF-A0C4-C66C52AC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9893F919-E50B-2194-9965-AB5BF1AB1A29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Инструменты и технологии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E39D05-8735-05D3-A430-49B0EDA90EE1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F69C8D1A-CF89-B3AF-210D-715AEB6E2FB1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0CA8D-896C-7180-318D-B988847F5B33}"/>
              </a:ext>
            </a:extLst>
          </p:cNvPr>
          <p:cNvSpPr txBox="1"/>
          <p:nvPr/>
        </p:nvSpPr>
        <p:spPr>
          <a:xfrm>
            <a:off x="628044" y="1334581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Были использованы следующие технологии: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25FD176-1B33-063D-B573-26CBB24ED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357418"/>
              </p:ext>
            </p:extLst>
          </p:nvPr>
        </p:nvGraphicFramePr>
        <p:xfrm>
          <a:off x="1355840" y="2141258"/>
          <a:ext cx="11079999" cy="518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614">
                  <a:extLst>
                    <a:ext uri="{9D8B030D-6E8A-4147-A177-3AD203B41FA5}">
                      <a16:colId xmlns:a16="http://schemas.microsoft.com/office/drawing/2014/main" val="389729105"/>
                    </a:ext>
                  </a:extLst>
                </a:gridCol>
                <a:gridCol w="5974385">
                  <a:extLst>
                    <a:ext uri="{9D8B030D-6E8A-4147-A177-3AD203B41FA5}">
                      <a16:colId xmlns:a16="http://schemas.microsoft.com/office/drawing/2014/main" val="1177294632"/>
                    </a:ext>
                  </a:extLst>
                </a:gridCol>
              </a:tblGrid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Компонент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Технология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52966511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Язык программирования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C# (.NET 8.0)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2706820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Фреймворк UI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7731282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База данных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 SQL Server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4003709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Среда разработки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 Studio 2022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2653917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СУБД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SQL Server Management Studio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4192623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Контроль версий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Git / GitHub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3112434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 API МКБ-10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3528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90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7250AC-0432-CEA8-658B-62B3EEF0F202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6B5A554-C9E3-8763-05BD-CC2D06A4F391}"/>
              </a:ext>
            </a:extLst>
          </p:cNvPr>
          <p:cNvSpPr/>
          <p:nvPr/>
        </p:nvSpPr>
        <p:spPr>
          <a:xfrm>
            <a:off x="694611" y="628949"/>
            <a:ext cx="51567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Результаты практики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DDD52AD1-CE76-38BF-BF1F-2766C296215A}"/>
              </a:ext>
            </a:extLst>
          </p:cNvPr>
          <p:cNvSpPr/>
          <p:nvPr/>
        </p:nvSpPr>
        <p:spPr>
          <a:xfrm>
            <a:off x="694611" y="6593443"/>
            <a:ext cx="13241179" cy="1073825"/>
          </a:xfrm>
          <a:prstGeom prst="roundRect">
            <a:avLst>
              <a:gd name="adj" fmla="val 277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3B17E7F5-FB07-6E05-0060-170308025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9" y="6888718"/>
            <a:ext cx="248007" cy="198358"/>
          </a:xfrm>
          <a:prstGeom prst="rect">
            <a:avLst/>
          </a:prstGeom>
        </p:spPr>
      </p:pic>
      <p:sp>
        <p:nvSpPr>
          <p:cNvPr id="33" name="Text 17">
            <a:extLst>
              <a:ext uri="{FF2B5EF4-FFF2-40B4-BE49-F238E27FC236}">
                <a16:creationId xmlns:a16="http://schemas.microsoft.com/office/drawing/2014/main" id="{9F813175-A5DC-D994-AD07-3718CB0EAAE5}"/>
              </a:ext>
            </a:extLst>
          </p:cNvPr>
          <p:cNvSpPr/>
          <p:nvPr/>
        </p:nvSpPr>
        <p:spPr>
          <a:xfrm>
            <a:off x="1339334" y="6816566"/>
            <a:ext cx="1239809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Исходный код проекта загружен на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GitHub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и доступен для проверки. Все поставленные цели практики выполнены в полном объёме.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01E70212-BAC8-36F8-2F53-A63B5C5ABAC0}"/>
              </a:ext>
            </a:extLst>
          </p:cNvPr>
          <p:cNvSpPr/>
          <p:nvPr/>
        </p:nvSpPr>
        <p:spPr>
          <a:xfrm>
            <a:off x="694610" y="132278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A8B48-DBC6-B1E4-57BD-DC944B16AFC9}"/>
              </a:ext>
            </a:extLst>
          </p:cNvPr>
          <p:cNvSpPr txBox="1"/>
          <p:nvPr/>
        </p:nvSpPr>
        <p:spPr>
          <a:xfrm>
            <a:off x="694611" y="1875690"/>
            <a:ext cx="75567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 научился: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Проектировать БД, ERD и UML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Разрабатывать WPF-приложения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Реализовывать CRUD-операции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Интегрировать внешний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Документировать и оформлять отчёты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цели и задачи практики выполнены в полном объёме.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Прямоугольник 2">
            <a:extLst>
              <a:ext uri="{FF2B5EF4-FFF2-40B4-BE49-F238E27FC236}">
                <a16:creationId xmlns:a16="http://schemas.microsoft.com/office/drawing/2014/main" id="{39E2F41E-0D3C-3B90-65B8-E164A5CDC9F0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AF70F-1469-B04F-3F73-04E088765A9E}"/>
              </a:ext>
            </a:extLst>
          </p:cNvPr>
          <p:cNvSpPr txBox="1"/>
          <p:nvPr/>
        </p:nvSpPr>
        <p:spPr>
          <a:xfrm>
            <a:off x="3657599" y="671026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QR-код на репозиторий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966EC2-5F7A-AF63-4E6C-25DECA2EA5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106" y="437138"/>
            <a:ext cx="6292186" cy="62921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113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425</Words>
  <Application>Microsoft Office PowerPoint</Application>
  <PresentationFormat>Произвольный</PresentationFormat>
  <Paragraphs>114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DM Sans Medium</vt:lpstr>
      <vt:lpstr>Inter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Дмитрий Путников</cp:lastModifiedBy>
  <cp:revision>57</cp:revision>
  <dcterms:created xsi:type="dcterms:W3CDTF">2026-04-20T09:20:00Z</dcterms:created>
  <dcterms:modified xsi:type="dcterms:W3CDTF">2026-08-21T14:09:19Z</dcterms:modified>
</cp:coreProperties>
</file>